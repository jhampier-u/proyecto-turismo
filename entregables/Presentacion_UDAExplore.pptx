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735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601200" y="914400"/>
            <a:ext cx="2286000" cy="22860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9144000" y="4114800"/>
            <a:ext cx="1463040" cy="146304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DEL AZUAY · ESCUELA DE TURISMO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la evaluación del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turístico territorial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457200" cy="6400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Pedro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Pesántez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Joaquín Méndez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Ingeniería en Ciencias de la Computación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852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Lic. Ronal Edison Chaca Espinoza.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Cuenca · Ecuador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hojas de cálculo, cero trazabilidad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Escuela de Turismo desarrolló una metodología robusta para diagnosticar el potencial turístico territorial. El instrumento técnico estaba completo, pero su soporte operativo presentaba fricciones que limitaban su utilidad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178308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6263640" y="19202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94944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dispersos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2194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Excel independientes, circulando por correo, con riesgo de versionado y pérdida.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907792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6263640" y="304495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949440" y="29992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trabajo colaborativo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33192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que múltiples evaluadores trabajen sobre el mismo territorio al mismo tiempo.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4032504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263640" y="4169664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49440" y="41239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control de acceso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44439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distingue quién carga, quién valida, quién consulta. Todo igual de editable.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5157216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263640" y="5294376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5248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manuales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556869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gráficos y diagnósticos exigían copia-pegado entre hojas y formatos.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única que preserva el rigor metodológico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 digitaliza los cuatro instrumentos sin sacrificar la rigurosidad académica. Centraliza la información, automatiza los cálculos y genera reportes interpretables. Lo que antes tomaba días, ahora ocurre en minutos.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788920" cy="3657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entorno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matrices integradas bajo un mismo flujo de trabajo.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2424" y="3017520"/>
            <a:ext cx="2788920" cy="3657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3392424" y="338328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392424" y="36576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575304" y="4572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75304" y="5029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ponderados ejecutados en tiempo real al guardar.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27648" y="3017520"/>
            <a:ext cx="2788920" cy="365760"/>
          </a:xfrm>
          <a:prstGeom prst="rect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6327648" y="338328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327648" y="36576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510528" y="4572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visuales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10528" y="5029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Radares, cuadrantes y dashboards generados sin intervención manual.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62872" y="3017520"/>
            <a:ext cx="2788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262872" y="338328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9262872" y="36576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445752" y="4572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validación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45752" y="5029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auditada por usuario, estado y fecha.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FUNDAMENTO TURÍSTICO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instrumentos, una metodología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metodología desarrollada por la facultad articula cuatro dimensiones complementarias del diagnóstico territorial. Cada matriz responde a una pregunta distinta sobre el destino.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137160" cy="16916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tenemos?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normalizado de los recursos turísticos del territorio según la clasificación oficial del MINTUR.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697480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6309360" y="2697480"/>
            <a:ext cx="137160" cy="16916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62940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Vocación (VTT)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400" y="3291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6118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Aptitud real del territorio = (FIT × 60 %) + (FET × 40 %). Tres rangos: Alta, Media o Baja vocación.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37160" cy="1691640"/>
          </a:xfrm>
          <a:prstGeom prst="rect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Potencialidad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¿Hasta dónde llega?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4864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de Factores Endógenos (FN) y Exógenos (FX) sobre cuatro cuadrantes interpretativos de potencial.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572000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6309360" y="4572000"/>
            <a:ext cx="13716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662940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29400" y="5166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vive la comunidad?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54864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Receptividad e involucramiento de la población local frente al turismo, en 16 atributos.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capas, separación limpia de responsabilidades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858000" cy="1005840"/>
          </a:xfrm>
          <a:prstGeom prst="roundRect">
            <a:avLst>
              <a:gd name="adj" fmla="val 7273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3774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Templates · Tailwind CSS · Alpine.js · Chart.js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6858000" cy="1005840"/>
          </a:xfrm>
          <a:prstGeom prst="roundRect">
            <a:avLst>
              <a:gd name="adj" fmla="val 7273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45920" y="32004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35661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· PHP 8.2 · MVC · Eloquent ORM · Middlewares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6858000" cy="1005840"/>
          </a:xfrm>
          <a:prstGeom prst="roundRect">
            <a:avLst>
              <a:gd name="adj" fmla="val 7273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822960" y="43891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645920" y="43891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47548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(prod) · SQLite (dev) · Migraciones versionadas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0" y="1874520"/>
            <a:ext cx="38862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7863840" y="20116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863840" y="26974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8160" y="31546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Docker multi-stage build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Render Web Service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 gestionado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CI/CD con GitHub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Auto-deploy en cada push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TrustProxies para HTTPS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110996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777240" y="55321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Sistema bajo Git + GitHub  ·  Despliegue continuo  ·  Entornos separados (dev / prod)  ·  Variables de entorno seguras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STACK TECNOLÓGICO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maduras, ampliamente adoptadas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777240" y="2167128"/>
            <a:ext cx="411480" cy="411480"/>
          </a:xfrm>
          <a:prstGeom prst="ellips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325880" y="2057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4688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· Framework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7830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639312" y="2167128"/>
            <a:ext cx="411480" cy="41148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4187952" y="2057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87952" y="24688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7830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6501384" y="2167128"/>
            <a:ext cx="411480" cy="41148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7050024" y="2057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50024" y="24688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utility-first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34856" y="17830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9363456" y="2167128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9912096" y="2057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12096" y="24688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plantillas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777240" y="3675888"/>
            <a:ext cx="411480" cy="411480"/>
          </a:xfrm>
          <a:prstGeom prst="ellips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1325880" y="35661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9776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dinámica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10712" y="32918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639312" y="3675888"/>
            <a:ext cx="411480" cy="41148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4187952" y="35661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Alpine.js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87952" y="39776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Reactividad ligera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72784" y="32918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6501384" y="3675888"/>
            <a:ext cx="411480" cy="41148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7050024" y="35661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50024" y="39776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Bundler / HMR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34856" y="32918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9363456" y="3675888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9912096" y="35661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12096" y="39776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Contenedorización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8006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777240" y="5184648"/>
            <a:ext cx="411480" cy="411480"/>
          </a:xfrm>
          <a:prstGeom prst="ellips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1325880" y="5074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25880" y="5486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cloud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410712" y="48006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" name="Shape 39"/>
          <p:cNvSpPr/>
          <p:nvPr/>
        </p:nvSpPr>
        <p:spPr>
          <a:xfrm>
            <a:off x="3639312" y="5184648"/>
            <a:ext cx="411480" cy="41148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4187952" y="5074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187952" y="5486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· CI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72784" y="48006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" name="Shape 43"/>
          <p:cNvSpPr/>
          <p:nvPr/>
        </p:nvSpPr>
        <p:spPr>
          <a:xfrm>
            <a:off x="6501384" y="5184648"/>
            <a:ext cx="411480" cy="41148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7050024" y="5074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50024" y="5486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paquetes PHP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9134856" y="48006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Shape 47"/>
          <p:cNvSpPr/>
          <p:nvPr/>
        </p:nvSpPr>
        <p:spPr>
          <a:xfrm>
            <a:off x="9363456" y="5184648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9912096" y="5074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912096" y="5486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objeto-relacional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MÓDULO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recursos turísticos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normalizado de cada recurso turístico, alineado a la clasificación oficial del Ministerio de Turismo del Ecuador (MINTUR).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bloques de información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91440" cy="5486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· Ubicación · Denominación · Categoría / Tipo / Subtipo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526280"/>
            <a:ext cx="91440" cy="5486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685800" y="4480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básica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· Calendario · Propiedad · Accesibilidad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5303520"/>
            <a:ext cx="91440" cy="5486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85800" y="5257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turísticas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5577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· Equipamiento · Especificidad · Valoración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583680" y="19202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TÉCNICAS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377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78040" y="23957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por zona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27066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zona acumula su propio catálogo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090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78040" y="3108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de imágenes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4198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asociada a cada recurso (1:N)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8039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78040" y="38221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inputs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13308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numéricos, obligatorios, formatos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45171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78040" y="453542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jerárquicas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78040" y="48463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auto-referenciada padre/hijo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52303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78040" y="524865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normativa MINTUR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8040" y="555955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con catastros oficiales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MÓDULO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Vocación Turística Territorial (VTT)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92840" cy="1005840"/>
          </a:xfrm>
          <a:prstGeom prst="roundRect">
            <a:avLst>
              <a:gd name="adj" fmla="val 9091"/>
            </a:avLst>
          </a:prstGeom>
          <a:solidFill>
            <a:srgbClr val="0F1E5C"/>
          </a:solidFill>
          <a:ln w="12700">
            <a:solidFill>
              <a:srgbClr val="0F1E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OFICIAL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1292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VTT  =  (FIT × 0.60)  +  (FET × 0.40)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55778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1168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Intrínsecos Territoriales · 60 %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· Atractivos · Prestadores · Producto · Infraestructura · Facilidades (señalética, senderos, baterías, miradores...)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971800"/>
            <a:ext cx="55778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35508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26680" y="3154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Extrínsecos Territoriales · 40 %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3657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· Marketing · Superestructura · Seguridad · Imagen percibida · Apertura comunitaria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del resultado (escala 0–3)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257800"/>
            <a:ext cx="3703320" cy="777240"/>
          </a:xfrm>
          <a:prstGeom prst="roundRect">
            <a:avLst>
              <a:gd name="adj" fmla="val 941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VOCACIÓN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641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51960" y="5257800"/>
            <a:ext cx="3703320" cy="777240"/>
          </a:xfrm>
          <a:prstGeom prst="roundRect">
            <a:avLst>
              <a:gd name="adj" fmla="val 9412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4434840" y="53492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VOCACIÓN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5641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– 2.0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46720" y="5257800"/>
            <a:ext cx="3703320" cy="777240"/>
          </a:xfrm>
          <a:prstGeom prst="roundRect">
            <a:avLst>
              <a:gd name="adj" fmla="val 941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8229600" y="53492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VOCACIÓN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5641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2.1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MÓDULO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Potencialidad Turística · Diagrama de Cuadrantes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9319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5960" cy="1965960"/>
          </a:xfrm>
          <a:prstGeom prst="rect">
            <a:avLst/>
          </a:prstGeom>
          <a:solidFill>
            <a:srgbClr val="FEF3C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606040" y="1828800"/>
            <a:ext cx="1965960" cy="1965960"/>
          </a:xfrm>
          <a:prstGeom prst="rect">
            <a:avLst/>
          </a:prstGeom>
          <a:solidFill>
            <a:srgbClr val="DCFCE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965960" cy="1965960"/>
          </a:xfrm>
          <a:prstGeom prst="rect">
            <a:avLst/>
          </a:prstGeom>
          <a:solidFill>
            <a:srgbClr val="FEE2E2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2606040" y="3794760"/>
            <a:ext cx="1965960" cy="1965960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2606040" y="1828800"/>
            <a:ext cx="0" cy="3931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39319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Exógeno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0116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3977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Endógeno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0" y="5394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1874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1783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Ponderaciones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20640" y="2194560"/>
            <a:ext cx="6629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5303520" y="228600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· Factores Endógenos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2697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Turísticos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0704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Turística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0704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Tipologías de Turismo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07040" y="3337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60704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20640" y="4206240"/>
            <a:ext cx="6629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5303520" y="429768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· Factores Exógenos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Afluencia Turística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070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5029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Turístico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607040" y="5029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5349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Superestructura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607040" y="5349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5989320"/>
            <a:ext cx="11109960" cy="548640"/>
          </a:xfrm>
          <a:prstGeom prst="roundRect">
            <a:avLst>
              <a:gd name="adj" fmla="val 16667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777240" y="603504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Innovación: configuración dinámica de campos por zona — el sistema reasigna los pesos cuando un grupo no aplica al territorio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MÓDULO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Percepción de la Localidad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los anteriores, este instrumento evalúa el territorio desde la dimensión humana: el grado de receptividad e involucramiento de la comunidad anfitriona frente al turismo.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2788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788920" cy="548640"/>
          </a:xfrm>
          <a:prstGeom prst="rect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26700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Social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6576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atributos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480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· Interés · Contribución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2424" y="2606040"/>
            <a:ext cx="2788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3392424" y="2606040"/>
            <a:ext cx="2788920" cy="5486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392424" y="26700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9584" y="3291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Local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9584" y="36576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29584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atributos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9584" y="4480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· Sentimiento · Necesidad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7648" y="2606040"/>
            <a:ext cx="2788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6327648" y="2606040"/>
            <a:ext cx="2788920" cy="5486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6327648" y="26700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64808" y="3291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Económica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4808" y="36576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64808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atributos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64808" y="4480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· Beneficios · Inversión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262872" y="2606040"/>
            <a:ext cx="2788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9262872" y="2606040"/>
            <a:ext cx="27889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9262872" y="26700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400032" y="3291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Organización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00032" y="36576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400032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atributos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00032" y="4480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 · Liderazgo · Conflictos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521208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0F1E5C"/>
          </a:solidFill>
          <a:ln w="12700">
            <a:solidFill>
              <a:srgbClr val="0F1E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640080" y="5303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VALORATIVA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6692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640080" y="5715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40080" y="6035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23160" y="56692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2423160" y="5715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423160" y="6035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06240" y="56692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4206240" y="5715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206240" y="6035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72200" y="521208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" name="Text 43"/>
          <p:cNvSpPr/>
          <p:nvPr/>
        </p:nvSpPr>
        <p:spPr>
          <a:xfrm>
            <a:off x="6355080" y="5303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GLOBAL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72200" y="56235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((avg × peso) ÷ 3)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172200" y="61264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 a 0–1 · expresado como % de cumplimiento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CONTROL DE ACCESO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roles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refleja la cadena real de responsabilidades del trabajo de campo. Cada acción es auditada por usuario, estado y fecha.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7490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749040" cy="822960"/>
          </a:xfrm>
          <a:prstGeom prst="rect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6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role_id =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407408"/>
            <a:ext cx="137160" cy="137160"/>
          </a:xfrm>
          <a:prstGeom prst="ellips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y gestiona usuarios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818888"/>
            <a:ext cx="137160" cy="137160"/>
          </a:xfrm>
          <a:prstGeom prst="ellips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1005840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lugares y zonas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5230368"/>
            <a:ext cx="137160" cy="137160"/>
          </a:xfrm>
          <a:prstGeom prst="ellips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1005840" y="5120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todas las evaluaciones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41848"/>
            <a:ext cx="137160" cy="137160"/>
          </a:xfrm>
          <a:prstGeom prst="ellips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1005840" y="5532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global del sistema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2544" y="2514600"/>
            <a:ext cx="37490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4352544" y="2514600"/>
            <a:ext cx="3749040" cy="8229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4352544" y="2606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352544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ZONA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52544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role_id =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72584" y="4407408"/>
            <a:ext cx="137160" cy="1371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4901184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la(s) zona(s) asignadas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72584" y="4818888"/>
            <a:ext cx="137160" cy="1371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4901184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los campos aplicables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72584" y="5230368"/>
            <a:ext cx="137160" cy="1371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4901184" y="5120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evaluaciones en borrador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72584" y="5641848"/>
            <a:ext cx="137160" cy="1371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4901184" y="5532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(valida) las matrices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47888" y="2514600"/>
            <a:ext cx="37490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8247888" y="2514600"/>
            <a:ext cx="3749040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8247888" y="2606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247888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OPERATIVO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47888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role_id = 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67928" y="4407408"/>
            <a:ext cx="137160" cy="13716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8796528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campo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67928" y="4818888"/>
            <a:ext cx="137160" cy="13716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8796528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datos en borrador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67928" y="5230368"/>
            <a:ext cx="137160" cy="13716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" name="Text 39"/>
          <p:cNvSpPr/>
          <p:nvPr/>
        </p:nvSpPr>
        <p:spPr>
          <a:xfrm>
            <a:off x="8796528" y="5120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al inventario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67928" y="5641848"/>
            <a:ext cx="137160" cy="13716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8796528" y="5532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confirmar evaluaciones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DESPLIEGUE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código a producción en un push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 la rama main de GitHub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2331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15768" y="18288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2715768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07208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detecta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52928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desde el blueprint render.yaml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64608" y="2331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74336" y="18288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4974336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65776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11496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→ assets · PHP 8.2 → runtime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23176" y="2331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32904" y="18288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7232904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24344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70064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config, migraciones, seed inicial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81744" y="2331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91472" y="18288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9491472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582912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28632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servida bajo HTTPS de Render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técnicos resueltos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594360" y="41605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325880" y="4087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APP_KEY base64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439826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correcta de clave AES-256 para sesiones cifradas y compatibilidad con el cipher Laravel.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44768" y="397764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6281928" y="41605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013448" y="4087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TrustProxies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13448" y="439826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HTTPS detrás del proxy de Render mediante header X-Forwarded-Proto para evitar mixed-content.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5093208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594360" y="527608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325880" y="52029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manifest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25880" y="55138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explícita de estilo.css en el manifest de Vite para que los assets se compilen en producción.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44768" y="5093208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6281928" y="527608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7013448" y="52029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automático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13448" y="55138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remoto para sembrar datos iniciales sin necesidad de Shell (plan free de Render).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LO QUE QUEREMOS DESTACAR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con valor metodológico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6235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9436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configurables por zona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2103120"/>
            <a:ext cx="0" cy="16459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788920" y="210312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de Potencialidad reasigna pesos cuando un grupo no aplica al territorio. Evita penalizaciones injustas al diagnóstico.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6235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40080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en la matriz de Percepción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66760" y="2103120"/>
            <a:ext cx="0" cy="16459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8595360" y="210312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categorías ponderadas que capturan la dimensión humana del turismo, traducidas fielmente al esquema relacional.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56235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594360" y="44348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594360" y="5577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integrados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4480560"/>
            <a:ext cx="0" cy="16459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2788920" y="448056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Inventario, Vocación, Potencialidad y Percepción operan sobre un mismo flujo, con control unificado de estados y roles.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206240"/>
            <a:ext cx="56235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6400800" y="44348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6400800" y="5577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rol con auditoría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66760" y="4480560"/>
            <a:ext cx="0" cy="16459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8595360" y="448056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evaluación queda firmada con usuario, timestamp y estado. La validación del Jefe bloquea la edición posterior.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 al hacerlo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" cy="8229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23774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metodológico preservado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6974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pesos, escalas y fórmulas del modelo original se trasladaron sin distorsión. La validez técnica del instrumento queda intacta en el entorno digital.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64008" cy="8229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33832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dinámica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7033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configuración de campos por zona resuelve un problema metodológico real: no penalizar al territorio por carencias inaplicables.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64008" cy="8229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438912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que reflejan el trabajo real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70916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Equipo → Jefe → Administrador modela cómo se evalúa un destino en la práctica académica y profesional.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64008" cy="8229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731520" y="53035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63040" y="53949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a decisiones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571500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visualizaciones (radar, cuadrantes) transforman valores numéricos en diagnósticos accionables más allá del aula.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9601200" y="4114800"/>
            <a:ext cx="1828800" cy="1828800"/>
          </a:xfrm>
          <a:prstGeom prst="ellips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0" y="5120640"/>
            <a:ext cx="2103120" cy="457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Pedro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Pesántez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Joaquín Méndez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UDAExplore ·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1537</Words>
  <Application>Microsoft Office PowerPoint</Application>
  <PresentationFormat>Panorámica</PresentationFormat>
  <Paragraphs>337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del Azuay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UDAExplore — Plataforma Web para Gestión Turística</dc:title>
  <dc:subject>PptxGenJS Presentation</dc:subject>
  <dc:creator>Juan Pedro Pesántez López</dc:creator>
  <cp:lastModifiedBy>Juan Pedro Pesantez L</cp:lastModifiedBy>
  <cp:revision>2</cp:revision>
  <dcterms:created xsi:type="dcterms:W3CDTF">2026-06-04T07:55:43Z</dcterms:created>
  <dcterms:modified xsi:type="dcterms:W3CDTF">2026-06-04T08:03:18Z</dcterms:modified>
</cp:coreProperties>
</file>